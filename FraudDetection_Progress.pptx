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5486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Seller-Level Fraud Detection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645920" y="13258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Online Marketplaces Using Interpretable ML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920240"/>
            <a:ext cx="8229600" cy="228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 Sawant  ·  Ameya Satish Khond  ·  Prathmesh Mankar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245 – Machine Learning Technologies  |  Spring 2026  |  Progress Presentation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97280" y="2880360"/>
            <a:ext cx="2194560" cy="1463040"/>
          </a:xfrm>
          <a:prstGeom prst="rect">
            <a:avLst/>
          </a:prstGeom>
          <a:solidFill>
            <a:srgbClr val="162B3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3017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299K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109728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0" y="2880360"/>
            <a:ext cx="2194560" cy="1463040"/>
          </a:xfrm>
          <a:prstGeom prst="rect">
            <a:avLst/>
          </a:prstGeom>
          <a:solidFill>
            <a:srgbClr val="162B3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657600" y="3017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365760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2880360"/>
            <a:ext cx="2194560" cy="1463040"/>
          </a:xfrm>
          <a:prstGeom prst="rect">
            <a:avLst/>
          </a:prstGeom>
          <a:solidFill>
            <a:srgbClr val="162B3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17920" y="3017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621792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2880" y="4937760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245  | 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01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Rare &amp; Costly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5272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2.2% of transactions are fraudulent — but each missed fraud costs significantly more than a false positive.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7452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202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 Fail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1284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 don't adapt when fraud patterns shift, leaving platforms vulnerable to novel attack vectors.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3464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80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Models Aren't Enough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17296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regulators and platform operators need interpretable risk reasons, not just a score.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79476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40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≠ Seller Risk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13308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flags individual transactions. Sellers can evade detection by spreading fraud across many small orders.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0" y="868680"/>
            <a:ext cx="2834640" cy="3886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0" y="960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1325880"/>
            <a:ext cx="2468880" cy="1828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with 3+ model families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Imbalance-aware training (SMOTE, class weights)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2651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LIME interpretability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80760" y="3246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Seller-level risk aggregation layer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3840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probability outputs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4937760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245  | 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 Engineering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2651760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· Account Age · Avg Transaction Value · Shipping Distance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265176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2070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Category · Country · BIN Country · Channel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011680"/>
            <a:ext cx="2651760" cy="27432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/ Auth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3042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 Match · CVV Result · 3D Secure Flag · Fraud Label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201168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2011680"/>
            <a:ext cx="2651760" cy="2743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23042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Hour-of-Day · Day-of-Week · Weekend Flag (engineered)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539496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1546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Key Engineered Features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456432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Country-BIN mismatch indicator  ·  amount / avg_amount_user ratio  ·  log(amount)  ·  Seller-level rolling fraud rate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89320" y="868680"/>
            <a:ext cx="2834640" cy="3154680"/>
          </a:xfrm>
          <a:prstGeom prst="rect">
            <a:avLst/>
          </a:prstGeom>
          <a:solidFill>
            <a:srgbClr val="162B3A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89320" y="960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Stats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1280160"/>
            <a:ext cx="2468880" cy="1828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417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299,695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989320" y="17647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89320" y="2057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989320" y="24048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89320" y="26974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~6,000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989320" y="30449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Sellers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89320" y="33375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989320" y="36850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4069080"/>
            <a:ext cx="2834640" cy="640080"/>
          </a:xfrm>
          <a:prstGeom prst="rect">
            <a:avLst/>
          </a:prstGeom>
          <a:solidFill>
            <a:srgbClr val="1A1A2E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Naturally imbalanced — requires specialized handling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4937760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245  | 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Models, Imbalance &amp; Interpretability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234440" cy="47548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144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914400"/>
            <a:ext cx="210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64792" y="914400"/>
            <a:ext cx="1234440" cy="4754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64792" y="9144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99232" y="914400"/>
            <a:ext cx="210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9544" y="914400"/>
            <a:ext cx="1234440" cy="475488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9544" y="9144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43984" y="914400"/>
            <a:ext cx="210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54296" y="914400"/>
            <a:ext cx="1234440" cy="47548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54296" y="9144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88736" y="914400"/>
            <a:ext cx="210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9048" y="914400"/>
            <a:ext cx="1234440" cy="47548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99048" y="9144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33488" y="914400"/>
            <a:ext cx="210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43800" y="914400"/>
            <a:ext cx="1234440" cy="4754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43800" y="9144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Layer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15544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1554480"/>
            <a:ext cx="274320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Families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1956816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(L1/L2)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9768" y="2478024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 ·  Naïve Bayes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9768" y="299923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·  Random Forest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9768" y="352044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9768" y="404164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(linear + RBF)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46120" y="15544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1554480"/>
            <a:ext cx="274320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Strategy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55848" y="1956816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loss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355848" y="2478024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under-sampling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355848" y="299923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oversampling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55848" y="352044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(P/R)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55848" y="404164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(Platt/Isotonic)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72200" y="155448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72200" y="1554480"/>
            <a:ext cx="2743200" cy="347472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81928" y="1956816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feature importance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81928" y="2478024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81928" y="299923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SHAP explanations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81928" y="352044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for high-risk cases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81928" y="404164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dependence plots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937760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245  | 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Novel: The Seller-Level Risk Layer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029200" cy="1371600"/>
          </a:xfrm>
          <a:prstGeom prst="rect">
            <a:avLst/>
          </a:prstGeom>
          <a:solidFill>
            <a:srgbClr val="162B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Existing 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ML fraud detection focuses on individual transactions. A sophisticated seller can spread fraudulent activity across hundreds of small orders — each individually low-risk — to evade detection entirely.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5029200" cy="1371600"/>
          </a:xfrm>
          <a:prstGeom prst="rect">
            <a:avLst/>
          </a:prstGeom>
          <a:solidFill>
            <a:srgbClr val="162B3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aggregate transaction-level predicted probabilities into seller-level signals: rolling average risk, fraction of high-risk transactions, and trend slope — enabling marketplace operators to act on seller behavior, not just individual events.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0" y="868680"/>
            <a:ext cx="3108960" cy="960120"/>
          </a:xfrm>
          <a:prstGeom prst="rect">
            <a:avLst/>
          </a:prstGeom>
          <a:solidFill>
            <a:srgbClr val="162B3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86868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9235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Risk Score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12527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 over seller's recent transactions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0" y="1965960"/>
            <a:ext cx="3108960" cy="960120"/>
          </a:xfrm>
          <a:prstGeom prst="rect">
            <a:avLst/>
          </a:prstGeom>
          <a:solidFill>
            <a:srgbClr val="162B3A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1965960"/>
            <a:ext cx="64008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20208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Fraction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23500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txns with predicted probability &gt; threshold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0" y="3063240"/>
            <a:ext cx="3108960" cy="960120"/>
          </a:xfrm>
          <a:prstGeom prst="rect">
            <a:avLst/>
          </a:prstGeom>
          <a:solidFill>
            <a:srgbClr val="162B3A"/>
          </a:solidFill>
          <a:ln w="1905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0" y="3063240"/>
            <a:ext cx="64008" cy="9601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31181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Trend Slope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3447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fraud risk increasing over time for this seller?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931920"/>
            <a:ext cx="8412480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Key Innovation: bridging transaction-level ML predictions → actionable seller-level risk monitoring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2B3A"/>
          </a:solidFill>
          <a:ln w="12700">
            <a:solidFill>
              <a:srgbClr val="162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937760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245  | 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3840480" cy="3657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25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sourced &amp; validated (299K txns, 2.2% fraud)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74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class imbalance confirmed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23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pipeline: stratified split, timestamp parsing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718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feature set defined (17 raw + engineered)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47472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520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prevention strategy established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02336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069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assigned (Data / FE / Modeling)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43400" y="868680"/>
            <a:ext cx="44805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868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Next Steps (Weeks 2–6)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1280160"/>
            <a:ext cx="4480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1280160"/>
            <a:ext cx="658368" cy="6035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1280160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134416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+ SMOTE / class-weight experiments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1975104"/>
            <a:ext cx="4480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3400" y="1975104"/>
            <a:ext cx="658368" cy="6035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1975104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20391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LR, k-NN, NB, DT, RF, XGBoost, SVM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43400" y="2670048"/>
            <a:ext cx="4480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43400" y="2670048"/>
            <a:ext cx="658368" cy="6035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2670048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74920" y="273405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+ stratified CV evaluation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43400" y="3364992"/>
            <a:ext cx="4480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43400" y="3364992"/>
            <a:ext cx="658368" cy="6035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3400" y="3364992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74920" y="34290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/ LIME explanations + seller-level aggregation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43400" y="4059936"/>
            <a:ext cx="4480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43400" y="4059936"/>
            <a:ext cx="658368" cy="6035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4059936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4920" y="41239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report, calibration analysis, presentation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937760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245  |  Spring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Seller-Level Fraud Detection – Progress Presentation</dc:title>
  <dc:subject>PptxGenJS Presentation</dc:subject>
  <dc:creator>PptxGenJS</dc:creator>
  <cp:lastModifiedBy>PptxGenJS</cp:lastModifiedBy>
  <cp:revision>1</cp:revision>
  <dcterms:created xsi:type="dcterms:W3CDTF">2026-04-07T05:50:53Z</dcterms:created>
  <dcterms:modified xsi:type="dcterms:W3CDTF">2026-04-07T05:50:53Z</dcterms:modified>
</cp:coreProperties>
</file>